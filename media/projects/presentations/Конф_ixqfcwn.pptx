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EA033-ADF8-DF7D-98C0-BA7742ECF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584E7B-1A64-5AC1-429E-ED816D8EA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2D2C97-EC30-696F-4A70-7E9149CB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87AE33-5BAC-5FAF-5213-E245D7D2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6EBF22-9847-036D-E81E-F974C592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05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DCACD-5F2D-D84C-5A4E-80D9AE43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713BB8-8E26-5BF6-8A37-6DDC3D55E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92D68F-30E3-A895-0B41-90AFD29B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372CD-10B3-2965-C986-7056C714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A574CD-A7B7-93F2-9B6B-88AFAEFB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11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430A7-1A0F-5A56-D2F6-992B5607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AA1CB7-60EB-C82F-31AC-B0392B212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D2ED00-AD92-131D-28C9-A158BFDC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08F232-E2AF-77E5-8CC4-4FABCCDC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6F75E6-BDD6-ADB7-8F0F-91099A9A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94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7E663-6655-9121-C72C-9D336AC5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C4A7A-4A5B-BA22-72EF-9A9A22301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BE2E8C-21F9-8FD9-AA2A-4DF06544A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E96CB-E8E1-F6FE-353E-B675A10C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DBD842-2368-8360-5466-2C911904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D805AD-E70C-6D32-3C92-9CCF96F6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3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ACE6E-8FD2-3582-D738-7A089F25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D67D7C-6458-AF50-9600-F0147DE6F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20614-97EA-16D2-DF7A-E68C3848E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51268-A0B5-DB6D-17F0-B0CA8BD31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538660-ED5F-E09D-E430-8C36A4C84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D4A5FA2-5730-87B0-58EA-90B6726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F0C73C-E291-AFE4-F667-CD77E89A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ADBB33-42BC-6CD5-5011-D7269541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08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F4B97-03B7-4615-AEDC-83A08A1D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C6EAE7-8049-C705-6710-76D170B7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32F493-F01C-547F-E4B7-8B46BD19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B9E484-226F-C8FE-FDE4-7BC0C955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18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0F2DBA6-950F-A552-CC3D-9BCFD2E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1860699-8845-1797-47FF-A0DF6100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A9EFB9-3729-7C0F-9FB2-A6B5DF48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3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CF2C2-1709-8600-36F2-A570BAF5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EEC99-CC81-0428-85FB-75D98AE13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155B8C-2D9D-230B-A32C-08BF2D78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98DB99-6D88-2958-79C3-BD15F995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878C79-98F9-BFD1-3720-7C4B5828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88F286-A95D-2C28-8F63-F3039530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10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29C69-610E-A9F7-1ADA-BA746CAF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B0865A-7E71-3EF8-ECB4-7854BD089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52A4F3-4930-E444-66F6-59142316F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D274C1-43B6-D366-513A-554DAC8B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3A751E-F7BC-C4C8-5EF2-0B165BE3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81FA08-1451-F639-04B7-60D224EB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0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137BE-6FA4-8A0E-98BA-AE19194D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C43F84-7609-66F3-AE81-CC8D39573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5AA78C-72F3-53F4-EEE6-89B47C87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98E3D-16F9-498C-6377-8F901948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0CA07-8D2A-CE6C-61A9-8E03F171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85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14191A-A1A1-D64D-CEAB-04D0F18DC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29FD23-71B9-9901-3351-0571B6C53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6600EF-93F7-7558-512C-B777FE24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3D96CC-1DD5-A02C-22D0-8C480468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84663E-863A-48BD-73BD-C045FA99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045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6875C-01F1-1457-44AB-65EA2CE6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D00F3C-DCA3-0FFB-0AF1-F58674095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0706ED-9427-C1AC-66BB-37054C3EA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0F3DA-BD20-43B1-825E-8D22C6D8FAFF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75A5C1-0115-1CA2-60CD-86CF0B681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3C0CB4-B459-C0E4-BD95-182C5143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42FE9-3BA1-4332-8F38-C004DA976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61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8A9CB-E2BA-8481-6D49-E81B686E7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232" y="978540"/>
            <a:ext cx="9743768" cy="3087176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ЦИФРОВАЯ ПЛАТФОРМА ДЛЯ УПРАВЛЕНИЯ ХАКАТОНАМИ В ОБРАЗОВАТЕЛЬНОЙ СРЕДЕ</a:t>
            </a:r>
            <a:br>
              <a:rPr lang="ru-RU" sz="4000" b="1" dirty="0"/>
            </a:b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8EF00-7A89-341B-7FCC-1EDD35270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232" y="4316207"/>
            <a:ext cx="9144000" cy="1655762"/>
          </a:xfrm>
        </p:spPr>
        <p:txBody>
          <a:bodyPr/>
          <a:lstStyle/>
          <a:p>
            <a:pPr algn="l"/>
            <a:r>
              <a:rPr lang="ru-RU"/>
              <a:t>ФИО авторов: </a:t>
            </a:r>
            <a:r>
              <a:rPr lang="ru-RU" dirty="0" err="1"/>
              <a:t>Джумаза</a:t>
            </a:r>
            <a:r>
              <a:rPr lang="ru-RU" dirty="0"/>
              <a:t> Арафат, Вик Максим</a:t>
            </a:r>
          </a:p>
          <a:p>
            <a:pPr algn="l"/>
            <a:r>
              <a:rPr lang="ru-RU" dirty="0"/>
              <a:t>Студенты 4 курса направления ИВТ, ИСИТ</a:t>
            </a:r>
          </a:p>
          <a:p>
            <a:pPr algn="l"/>
            <a:r>
              <a:rPr lang="ru-RU" dirty="0"/>
              <a:t>Научный руководитель: </a:t>
            </a:r>
            <a:r>
              <a:rPr lang="ru-RU" dirty="0" err="1"/>
              <a:t>Юст</a:t>
            </a:r>
            <a:r>
              <a:rPr lang="ru-RU" dirty="0"/>
              <a:t> Наталья Викторовна </a:t>
            </a:r>
          </a:p>
        </p:txBody>
      </p:sp>
    </p:spTree>
    <p:extLst>
      <p:ext uri="{BB962C8B-B14F-4D97-AF65-F5344CB8AC3E}">
        <p14:creationId xmlns:p14="http://schemas.microsoft.com/office/powerpoint/2010/main" val="354444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6CAAC-B688-17E1-208A-22E108BB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88857"/>
            <a:ext cx="8596668" cy="1320800"/>
          </a:xfrm>
        </p:spPr>
        <p:txBody>
          <a:bodyPr/>
          <a:lstStyle/>
          <a:p>
            <a:r>
              <a:rPr lang="ru-RU" dirty="0"/>
              <a:t>Почему это важно?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46F927-5E0A-9DA9-F7B4-DFC29918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51317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Хакатоны — эффективный инструмент развития практических навыков студентов</a:t>
            </a:r>
          </a:p>
          <a:p>
            <a:r>
              <a:rPr lang="ru-RU" dirty="0"/>
              <a:t>Организация требует больших ресурсов: регистрация, команды, проекты, жюри</a:t>
            </a:r>
          </a:p>
          <a:p>
            <a:r>
              <a:rPr lang="ru-RU" dirty="0"/>
              <a:t>Сейчас всё делается через почту, таблицы и разрозненные сервисы</a:t>
            </a:r>
          </a:p>
          <a:p>
            <a:r>
              <a:rPr lang="ru-RU" dirty="0"/>
              <a:t>Результат: хаос, потеря данных, низкая прозрачность</a:t>
            </a:r>
          </a:p>
          <a:p>
            <a:pPr marL="0" indent="0">
              <a:buNone/>
            </a:pPr>
            <a:r>
              <a:rPr lang="ru-RU" dirty="0"/>
              <a:t>Вывод: нужна единая специализированная платформа.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ED4AEB-65A2-85B5-32BC-080CCF31C9D1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569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D64F4-93FD-61FF-4155-1EA7388BC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95506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концепции цифровой платформы для автоматизации полного цикла хакатонов в вузах.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F999E-87DC-9D84-AF53-D8CFCF21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2" y="2546094"/>
            <a:ext cx="10515600" cy="317899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Задачи:</a:t>
            </a:r>
          </a:p>
          <a:p>
            <a:r>
              <a:rPr lang="ru-RU" dirty="0"/>
              <a:t>Проанализировать особенности проведения хакатонов</a:t>
            </a:r>
          </a:p>
          <a:p>
            <a:r>
              <a:rPr lang="ru-RU" dirty="0"/>
              <a:t>Определить функциональные требования</a:t>
            </a:r>
          </a:p>
          <a:p>
            <a:r>
              <a:rPr lang="ru-RU" dirty="0"/>
              <a:t>Разработать ролевую модель и структуру системы</a:t>
            </a:r>
          </a:p>
          <a:p>
            <a:r>
              <a:rPr lang="ru-RU" dirty="0"/>
              <a:t>Создать модель оценивания и рейтинга</a:t>
            </a:r>
          </a:p>
          <a:p>
            <a:r>
              <a:rPr lang="ru-RU" dirty="0"/>
              <a:t>Предложить архитектуру и базу данных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22186B-4B89-A5E4-E488-6129F4906F1F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241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1881910-013E-8E3A-1D0D-6255AA8D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E32603DE-1240-B4A3-3C8C-8C0FB466B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" y="0"/>
            <a:ext cx="10992465" cy="6822207"/>
          </a:xfrm>
          <a:prstGeom prst="rect">
            <a:avLst/>
          </a:prstGeom>
        </p:spPr>
      </p:pic>
      <p:sp>
        <p:nvSpPr>
          <p:cNvPr id="8" name="AutoShape 2" descr="Модель доступа с ролями и иконами">
            <a:extLst>
              <a:ext uri="{FF2B5EF4-FFF2-40B4-BE49-F238E27FC236}">
                <a16:creationId xmlns:a16="http://schemas.microsoft.com/office/drawing/2014/main" id="{FA52FEC5-0592-FF83-5F84-A8E72B77A2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69AFAFE-CDF1-3417-56C5-4A881164C438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7335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EBF8A-36CF-E26A-0A79-341EAC4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94735"/>
            <a:ext cx="8596668" cy="789858"/>
          </a:xfrm>
        </p:spPr>
        <p:txBody>
          <a:bodyPr>
            <a:normAutofit fontScale="90000"/>
          </a:bodyPr>
          <a:lstStyle/>
          <a:p>
            <a:r>
              <a:rPr lang="ru-RU" dirty="0"/>
              <a:t>Ключевые возможности платформы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B34DF-D659-D0DA-7D65-EF935BBB7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99967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Создание и управление хакатонами (внутри- и межвузовские)</a:t>
            </a:r>
          </a:p>
          <a:p>
            <a:r>
              <a:rPr lang="ru-RU" dirty="0"/>
              <a:t>Формирование команд (капитан, приглашения, код вступления)</a:t>
            </a:r>
          </a:p>
          <a:p>
            <a:r>
              <a:rPr lang="ru-RU" dirty="0"/>
              <a:t>Подача проектов (описание, технологии, репозиторий, видео)</a:t>
            </a:r>
          </a:p>
          <a:p>
            <a:r>
              <a:rPr lang="ru-RU" dirty="0"/>
              <a:t>Этапы с дедлайнами: </a:t>
            </a:r>
            <a:r>
              <a:rPr lang="en-US" dirty="0"/>
              <a:t>draft → published → running → judging → finished</a:t>
            </a:r>
          </a:p>
          <a:p>
            <a:r>
              <a:rPr lang="ru-RU" dirty="0"/>
              <a:t>Автоматическое ограничение действий по времени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2A02187-BFFC-11B2-E819-EF7B81602DB2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122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4054A-DD7F-9B1E-7E59-931EB86F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62870"/>
            <a:ext cx="8596668" cy="1320800"/>
          </a:xfrm>
        </p:spPr>
        <p:txBody>
          <a:bodyPr/>
          <a:lstStyle/>
          <a:p>
            <a:r>
              <a:rPr lang="ru-RU" dirty="0"/>
              <a:t>Как работает жюри и рейтинг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DEA94D-B206-A039-4B72-9DE261D1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14357"/>
            <a:ext cx="8596668" cy="3880773"/>
          </a:xfrm>
        </p:spPr>
        <p:txBody>
          <a:bodyPr/>
          <a:lstStyle/>
          <a:p>
            <a:r>
              <a:rPr lang="ru-RU" dirty="0"/>
              <a:t>Организатор создаёт критерии (название, описание, балл, вес)</a:t>
            </a:r>
          </a:p>
          <a:p>
            <a:r>
              <a:rPr lang="ru-RU" dirty="0"/>
              <a:t>Назначает жюри и распределяет проекты</a:t>
            </a:r>
          </a:p>
          <a:p>
            <a:r>
              <a:rPr lang="ru-RU" dirty="0"/>
              <a:t>Жюри ставит оценки + комментарии</a:t>
            </a:r>
          </a:p>
          <a:p>
            <a:r>
              <a:rPr lang="ru-RU" dirty="0"/>
              <a:t>Формула: итог = ∑ (средняя оценка × вес)</a:t>
            </a:r>
          </a:p>
          <a:p>
            <a:r>
              <a:rPr lang="ru-RU" dirty="0"/>
              <a:t>Два режима: среднее или медианное значение</a:t>
            </a:r>
          </a:p>
          <a:p>
            <a:r>
              <a:rPr lang="ru-RU" dirty="0"/>
              <a:t>Рейтинг публикуется только после завершения этапа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214B8F-B37F-811C-99A9-2E37DB0BABD8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825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35119-CDB2-C3FA-3A0E-69952896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34065"/>
            <a:ext cx="8596668" cy="1320800"/>
          </a:xfrm>
        </p:spPr>
        <p:txBody>
          <a:bodyPr/>
          <a:lstStyle/>
          <a:p>
            <a:r>
              <a:rPr lang="ru-RU" dirty="0"/>
              <a:t>Архитектура и база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80E52-D2BC-7AE6-CCA7-2165D0AA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53880"/>
            <a:ext cx="8596668" cy="3880773"/>
          </a:xfrm>
        </p:spPr>
        <p:txBody>
          <a:bodyPr/>
          <a:lstStyle/>
          <a:p>
            <a:r>
              <a:rPr lang="en-US" dirty="0"/>
              <a:t>Backend: Python (Django / </a:t>
            </a:r>
            <a:r>
              <a:rPr lang="en-US" dirty="0" err="1"/>
              <a:t>FastAPI</a:t>
            </a:r>
            <a:r>
              <a:rPr lang="en-US" dirty="0"/>
              <a:t>) + REST API</a:t>
            </a:r>
          </a:p>
          <a:p>
            <a:r>
              <a:rPr lang="ru-RU" dirty="0"/>
              <a:t>База данных: </a:t>
            </a:r>
            <a:r>
              <a:rPr lang="ru-RU" dirty="0" err="1"/>
              <a:t>PostgreSQL</a:t>
            </a:r>
            <a:r>
              <a:rPr lang="ru-RU" dirty="0"/>
              <a:t> (</a:t>
            </a:r>
            <a:r>
              <a:rPr lang="ru-RU" dirty="0" err="1"/>
              <a:t>Neon</a:t>
            </a:r>
            <a:r>
              <a:rPr lang="ru-RU" dirty="0"/>
              <a:t> — облачный вариант)</a:t>
            </a:r>
          </a:p>
          <a:p>
            <a:r>
              <a:rPr lang="ru-RU" dirty="0"/>
              <a:t>Основные сущности: </a:t>
            </a:r>
            <a:r>
              <a:rPr lang="en-US" dirty="0"/>
              <a:t>users, hackathons, teams, projects, criteria, scores, </a:t>
            </a:r>
            <a:r>
              <a:rPr lang="en-US" dirty="0" err="1"/>
              <a:t>judge_assignments</a:t>
            </a:r>
            <a:endParaRPr lang="en-US" dirty="0"/>
          </a:p>
          <a:p>
            <a:r>
              <a:rPr lang="ru-RU" dirty="0"/>
              <a:t>Безопасность: хешированные пароли, индексы, ограничения целостности</a:t>
            </a:r>
          </a:p>
          <a:p>
            <a:r>
              <a:rPr lang="en-US" dirty="0"/>
              <a:t>Frontend: HTML + CSS + JavaScript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571A8FF-F351-1D5E-CF49-537B5BC0F016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942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03A2F-A28D-4FC5-C5B7-E7957315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57084"/>
            <a:ext cx="8596668" cy="1320800"/>
          </a:xfrm>
        </p:spPr>
        <p:txBody>
          <a:bodyPr/>
          <a:lstStyle/>
          <a:p>
            <a:r>
              <a:rPr lang="ru-RU" dirty="0"/>
              <a:t>Результаты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71B3DC-3EDF-1F94-CE00-DA0514AF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20143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Разработана полная концепция платформы</a:t>
            </a:r>
          </a:p>
          <a:p>
            <a:r>
              <a:rPr lang="ru-RU" dirty="0"/>
              <a:t>Автоматизированы все этапы хакатона</a:t>
            </a:r>
          </a:p>
          <a:p>
            <a:r>
              <a:rPr lang="ru-RU" dirty="0"/>
              <a:t>Снижена нагрузка на организаторов</a:t>
            </a:r>
          </a:p>
          <a:p>
            <a:r>
              <a:rPr lang="ru-RU" dirty="0"/>
              <a:t>Обеспечена прозрачность и объективность оценивания</a:t>
            </a:r>
          </a:p>
          <a:p>
            <a:r>
              <a:rPr lang="ru-RU" dirty="0"/>
              <a:t>Платформа готова к реальной реализации командой разработки</a:t>
            </a:r>
          </a:p>
          <a:p>
            <a:pPr marL="0" indent="0">
              <a:buNone/>
            </a:pPr>
            <a:r>
              <a:rPr lang="ru-RU" dirty="0"/>
              <a:t>Перспективы: внедрение в университетах, добавление уведомлений (</a:t>
            </a:r>
            <a:r>
              <a:rPr lang="ru-RU" dirty="0" err="1"/>
              <a:t>email</a:t>
            </a:r>
            <a:r>
              <a:rPr lang="ru-RU" dirty="0"/>
              <a:t>/</a:t>
            </a:r>
            <a:r>
              <a:rPr lang="ru-RU" dirty="0" err="1"/>
              <a:t>Telegram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D894A6-CFA4-31C2-7EE7-59A5977B0348}"/>
              </a:ext>
            </a:extLst>
          </p:cNvPr>
          <p:cNvSpPr txBox="1">
            <a:spLocks/>
          </p:cNvSpPr>
          <p:nvPr/>
        </p:nvSpPr>
        <p:spPr>
          <a:xfrm>
            <a:off x="11596057" y="6032090"/>
            <a:ext cx="300976" cy="60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67383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326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ЦИФРОВАЯ ПЛАТФОРМА ДЛЯ УПРАВЛЕНИЯ ХАКАТОНАМИ В ОБРАЗОВАТЕЛЬНОЙ СРЕДЕ </vt:lpstr>
      <vt:lpstr>Почему это важно?</vt:lpstr>
      <vt:lpstr>Разработка концепции цифровой платформы для автоматизации полного цикла хакатонов в вузах. </vt:lpstr>
      <vt:lpstr>Презентация PowerPoint</vt:lpstr>
      <vt:lpstr>Ключевые возможности платформы</vt:lpstr>
      <vt:lpstr>Как работает жюри и рейтинг</vt:lpstr>
      <vt:lpstr>Архитектура и база данных</vt:lpstr>
      <vt:lpstr>Результаты и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Arafat Dzhumaza</dc:creator>
  <cp:lastModifiedBy>Arafat Dzhumaza</cp:lastModifiedBy>
  <cp:revision>9</cp:revision>
  <dcterms:created xsi:type="dcterms:W3CDTF">2026-03-24T14:02:26Z</dcterms:created>
  <dcterms:modified xsi:type="dcterms:W3CDTF">2026-03-25T14:39:51Z</dcterms:modified>
</cp:coreProperties>
</file>